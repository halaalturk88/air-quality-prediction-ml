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>
        <p:scale>
          <a:sx n="50" d="100"/>
          <a:sy n="50" d="100"/>
        </p:scale>
        <p:origin x="-29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474BF-ACCF-E29E-37BC-AFE9CF588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3DAAE6-9D26-4B7C-1F69-5D7BDB0C2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EB633-984D-9EBC-966D-DED4A520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EF66-83D0-4069-8460-45780951E81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DA4AA-4996-A75A-E3EF-DBB9FC147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BCDA2-83E2-6A12-D96D-446AE876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9DB5-5B9C-4127-BB44-528D658E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4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D6A9-E2D2-0F58-98BF-1E73F2BC6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B60C8-5ED3-0FA8-81EC-E4D730FCD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9B304-CF79-414D-FBBA-C06D9BAB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EF66-83D0-4069-8460-45780951E81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F70D8-97F4-B277-2AC0-B1272728D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30EDF-3A8D-09F0-B5B6-24F8CB053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9DB5-5B9C-4127-BB44-528D658E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54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CE28D-1B6B-95E6-78FE-03F96E1E3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3A2F0-85C4-CA0A-30B7-07C1844FC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3A420-8086-C9DF-A526-223594501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EF66-83D0-4069-8460-45780951E81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D9A2C-9B2D-3C7F-A343-63EC7F306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29B9A-3B6B-808E-1A54-739753675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9DB5-5B9C-4127-BB44-528D658E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77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0FD2B-9AD3-1730-9D66-E0039CF74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9A193-2C2B-6AC1-BE34-8AA1AB4B9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B01E4F-BE97-B9FB-D335-C1ADBC5C8A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66B990-7D41-A0AE-B805-0DC19FD9A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EF66-83D0-4069-8460-45780951E81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2A15B-62C1-394B-B2A5-3F0E56613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C0C86-AB77-DB3F-F9CE-2E368D98F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9DB5-5B9C-4127-BB44-528D658E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323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A755-B9A8-05B1-E057-A04576A2C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B8FF2-12D3-B4CC-EC00-9C28C89146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607A0-4233-EEB5-BF92-A158183D8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315B67-2C66-1B9B-F298-F336EE068E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37710D-1E5F-FF90-978A-8DB2986199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D193F-83B9-BFEA-B3DB-E20AB0D01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EF66-83D0-4069-8460-45780951E81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A163FE-3990-904B-1BC1-D0ED367B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061A0-71DD-AB04-A969-ED69F6BE0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9DB5-5B9C-4127-BB44-528D658E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0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2F2B6-E43F-6051-FFC6-F90D558A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9CAF4B-3BAF-43CA-0635-E3FA95198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EF66-83D0-4069-8460-45780951E81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D0114C-1798-1BFA-1219-C40B7342E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7644E-19C2-DAA4-9A20-86B77F444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9DB5-5B9C-4127-BB44-528D658E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93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CAFF6-FA70-85C0-3244-CA21FF616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EF66-83D0-4069-8460-45780951E81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B913D8-DE88-AC53-6CF5-64EFFEF2E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5A72C3-49F4-0F41-2FB6-905B6DD12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9DB5-5B9C-4127-BB44-528D658E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43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9BF5A-FB6A-8BC5-0456-0944B20D5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5D000-7A4E-D113-F2B7-CDD93E672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41D0F1-4A00-D306-BCB2-C97DA53FA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C6AC9-F685-14A7-EFBD-DD07CC4AF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EF66-83D0-4069-8460-45780951E81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7A227-51BD-AECA-039E-F0201FEDA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6AE50-FED4-2B3F-E721-D61DD3F5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9DB5-5B9C-4127-BB44-528D658E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07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7186-88B3-2853-295E-0965F2448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1110E4-A402-D5E3-C31C-C6F0E1A55B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C66D27-CA3C-759E-EE9A-7092FA318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8F8DD-5732-6EDD-64D6-19F0162B1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EF66-83D0-4069-8460-45780951E81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9D0F6-8A65-C6EC-8B8C-2701ED30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20D26-FE8B-71DA-CE02-D068922E5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9DB5-5B9C-4127-BB44-528D658E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010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2BB24-589F-BA2A-59F0-11E3E6EFE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53869-8E56-70CD-195B-9604677ADF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5E61AF-51CA-5D90-0EAC-399EDD1A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EF66-83D0-4069-8460-45780951E81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759F9-231C-DC80-86FB-2C798D48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9F6B92-5C26-6845-A51B-A8CEA8921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9DB5-5B9C-4127-BB44-528D658E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3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58827F-971A-BF94-276D-B9B99FD4F5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3ACA04-CA67-0CF4-9C8F-7F519014E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29AD4-B746-A8E4-A113-96BF9B55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6EF66-83D0-4069-8460-45780951E81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C0656-6AC9-4DCB-1568-11355FD17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DA6C8-75C7-51B4-CD57-913C0FF3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6F9DB5-5B9C-4127-BB44-528D658E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2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1D0FCC-B544-F112-6598-AF0751AC5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D4193-F276-242F-2116-C9FFCD3AE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57C1D-873C-19BC-906B-C890447E4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D6EF66-83D0-4069-8460-45780951E813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D87BA-7FFF-3930-55C1-D279E87404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4038D-5589-4E1E-C829-CCC8E3BF6D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6F9DB5-5B9C-4127-BB44-528D658E41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092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A801E-C383-7B01-3F23-6CBDCA2756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Air Quality Prediction</a:t>
            </a:r>
          </a:p>
        </p:txBody>
      </p:sp>
    </p:spTree>
    <p:extLst>
      <p:ext uri="{BB962C8B-B14F-4D97-AF65-F5344CB8AC3E}">
        <p14:creationId xmlns:p14="http://schemas.microsoft.com/office/powerpoint/2010/main" val="1462331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DFF3F-6001-B3E2-0DEC-08D35F7AD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505"/>
            <a:ext cx="10515600" cy="6432884"/>
          </a:xfrm>
        </p:spPr>
        <p:txBody>
          <a:bodyPr/>
          <a:lstStyle/>
          <a:p>
            <a:r>
              <a:rPr lang="en-US" b="1" dirty="0"/>
              <a:t>Source</a:t>
            </a:r>
            <a:r>
              <a:rPr lang="en-US" dirty="0"/>
              <a:t>: The dataset is the </a:t>
            </a:r>
            <a:r>
              <a:rPr lang="en-US" b="1" dirty="0"/>
              <a:t>Air Quality UCI</a:t>
            </a:r>
            <a:r>
              <a:rPr lang="en-US" dirty="0"/>
              <a:t> dataset from the UCI Machine Learning Repository.</a:t>
            </a:r>
          </a:p>
          <a:p>
            <a:endParaRPr lang="en-US" dirty="0"/>
          </a:p>
          <a:p>
            <a:r>
              <a:rPr lang="en-US" b="1" dirty="0"/>
              <a:t>Goal</a:t>
            </a:r>
            <a:r>
              <a:rPr lang="en-US" dirty="0"/>
              <a:t>: The primary objective is to predict the concentration of </a:t>
            </a:r>
            <a:r>
              <a:rPr lang="en-US" b="1" dirty="0"/>
              <a:t>Carbon Monoxide (CO(GT))</a:t>
            </a:r>
            <a:r>
              <a:rPr lang="en-US" dirty="0"/>
              <a:t> based on various chemical and environmental sensor </a:t>
            </a:r>
            <a:r>
              <a:rPr lang="en-US" dirty="0" err="1"/>
              <a:t>readin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Instances</a:t>
            </a:r>
            <a:r>
              <a:rPr lang="en-US" dirty="0"/>
              <a:t>: The raw dataset contains </a:t>
            </a:r>
            <a:r>
              <a:rPr lang="en-US" b="1" dirty="0"/>
              <a:t>9,357</a:t>
            </a:r>
            <a:r>
              <a:rPr lang="en-US" dirty="0"/>
              <a:t> records. </a:t>
            </a:r>
          </a:p>
          <a:p>
            <a:endParaRPr lang="en-US" dirty="0"/>
          </a:p>
          <a:p>
            <a:r>
              <a:rPr lang="en-US" dirty="0"/>
              <a:t>Features: Originally contains </a:t>
            </a:r>
            <a:r>
              <a:rPr lang="en-US" b="1" dirty="0"/>
              <a:t>15</a:t>
            </a:r>
            <a:r>
              <a:rPr lang="en-US" dirty="0"/>
              <a:t> features, including sensors for Nitrogen Oxides (Nox) , Non-</a:t>
            </a:r>
            <a:r>
              <a:rPr lang="en-US" dirty="0" err="1"/>
              <a:t>Metanic</a:t>
            </a:r>
            <a:r>
              <a:rPr lang="en-US" dirty="0"/>
              <a:t> Hydrocarbons (NMHC), </a:t>
            </a:r>
            <a:r>
              <a:rPr lang="en-US" dirty="0" err="1"/>
              <a:t>Temprature</a:t>
            </a:r>
            <a:r>
              <a:rPr lang="en-US" dirty="0"/>
              <a:t> (T), and Humidity(RH).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702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C6C6E-518A-FC3B-43FB-A2030DBB0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017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2795176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36A519F-943A-A36F-12A5-813BC2210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95" y="1235242"/>
            <a:ext cx="10376819" cy="49324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E6E928A-DF5B-06E2-3E30-13C353587576}"/>
              </a:ext>
            </a:extLst>
          </p:cNvPr>
          <p:cNvSpPr txBox="1"/>
          <p:nvPr/>
        </p:nvSpPr>
        <p:spPr>
          <a:xfrm>
            <a:off x="1764632" y="288758"/>
            <a:ext cx="8662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Missing Data Pattern</a:t>
            </a:r>
            <a:r>
              <a:rPr lang="en-US" dirty="0"/>
              <a:t>: A heatmap was generated to visualize the distribution of missing values across features before cleaning</a:t>
            </a:r>
          </a:p>
        </p:txBody>
      </p:sp>
    </p:spTree>
    <p:extLst>
      <p:ext uri="{BB962C8B-B14F-4D97-AF65-F5344CB8AC3E}">
        <p14:creationId xmlns:p14="http://schemas.microsoft.com/office/powerpoint/2010/main" val="1820805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5A88B5-9844-D84B-8265-E9E0D6BDB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1361" y="961733"/>
            <a:ext cx="6329274" cy="570435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A85278-F656-A47A-C17E-107A4C28BA72}"/>
              </a:ext>
            </a:extLst>
          </p:cNvPr>
          <p:cNvSpPr txBox="1"/>
          <p:nvPr/>
        </p:nvSpPr>
        <p:spPr>
          <a:xfrm>
            <a:off x="697830" y="191908"/>
            <a:ext cx="10796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Correlation Matrix</a:t>
            </a:r>
            <a:r>
              <a:rPr lang="en-US" dirty="0"/>
              <a:t>: A correlation heatmap was used to identify the relationships between different gas concentrations and environmental factors. </a:t>
            </a:r>
          </a:p>
        </p:txBody>
      </p:sp>
    </p:spTree>
    <p:extLst>
      <p:ext uri="{BB962C8B-B14F-4D97-AF65-F5344CB8AC3E}">
        <p14:creationId xmlns:p14="http://schemas.microsoft.com/office/powerpoint/2010/main" val="669758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8D4F4-CF9E-CA54-7A69-3F4D15EF5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4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4F50C-F01F-AA89-D3CC-7FE6AF11E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528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0033D-7BB8-71DF-2F55-8B5674227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474" y="1239686"/>
            <a:ext cx="11133221" cy="4744019"/>
          </a:xfrm>
        </p:spPr>
        <p:txBody>
          <a:bodyPr>
            <a:normAutofit/>
          </a:bodyPr>
          <a:lstStyle/>
          <a:p>
            <a:r>
              <a:rPr lang="en-US" sz="2000" b="1" dirty="0"/>
              <a:t>Handling Missing Markers</a:t>
            </a:r>
            <a:r>
              <a:rPr lang="en-US" sz="2000" dirty="0"/>
              <a:t>: The dataset uses -200 as a missing value marker; these were replaced with </a:t>
            </a:r>
            <a:r>
              <a:rPr lang="en-US" sz="2000" dirty="0" err="1"/>
              <a:t>NaN</a:t>
            </a:r>
            <a:r>
              <a:rPr lang="en-US" sz="2000" dirty="0"/>
              <a:t> to allow for proper imputation. Feature Engineering: The Date and Time columns were merged into a single </a:t>
            </a:r>
            <a:r>
              <a:rPr lang="en-US" sz="2000" dirty="0" err="1"/>
              <a:t>DateTime</a:t>
            </a:r>
            <a:r>
              <a:rPr lang="en-US" sz="2000" dirty="0"/>
              <a:t> index to handle the data as a Time Series. </a:t>
            </a:r>
          </a:p>
          <a:p>
            <a:r>
              <a:rPr lang="en-US" sz="2000" b="1" dirty="0"/>
              <a:t>Feature Selection</a:t>
            </a:r>
            <a:r>
              <a:rPr lang="en-US" sz="2000" dirty="0"/>
              <a:t>: The column NMHC(GT) was dropped because approximately 90% of its values were missing, making it unreliable for training.</a:t>
            </a:r>
          </a:p>
          <a:p>
            <a:r>
              <a:rPr lang="en-US" sz="2000" dirty="0"/>
              <a:t> </a:t>
            </a:r>
            <a:r>
              <a:rPr lang="en-US" sz="2000" b="1" dirty="0"/>
              <a:t>Imputation</a:t>
            </a:r>
            <a:r>
              <a:rPr lang="en-US" sz="2000" dirty="0"/>
              <a:t>: Remaining missing values were handled using a combination of Forward Fill (</a:t>
            </a:r>
            <a:r>
              <a:rPr lang="en-US" sz="2000" dirty="0" err="1"/>
              <a:t>ffill</a:t>
            </a:r>
            <a:r>
              <a:rPr lang="en-US" sz="2000" dirty="0"/>
              <a:t>) and Backward Fill (</a:t>
            </a:r>
            <a:r>
              <a:rPr lang="en-US" sz="2000" dirty="0" err="1"/>
              <a:t>bfill</a:t>
            </a:r>
            <a:r>
              <a:rPr lang="en-US" sz="2000" dirty="0"/>
              <a:t>). </a:t>
            </a:r>
          </a:p>
          <a:p>
            <a:r>
              <a:rPr lang="en-US" sz="2000" b="1" dirty="0"/>
              <a:t>Duplicates</a:t>
            </a:r>
            <a:r>
              <a:rPr lang="en-US" sz="2000" dirty="0"/>
              <a:t>: Duplicate rows were identified and removed to prevent model bias. </a:t>
            </a:r>
          </a:p>
          <a:p>
            <a:r>
              <a:rPr lang="en-US" sz="2000" b="1" dirty="0"/>
              <a:t>Data Scaling</a:t>
            </a:r>
            <a:r>
              <a:rPr lang="en-US" sz="2000" dirty="0"/>
              <a:t>: Continuous features were scaled using </a:t>
            </a:r>
            <a:r>
              <a:rPr lang="en-US" sz="2000" dirty="0" err="1"/>
              <a:t>StandardScaler</a:t>
            </a:r>
            <a:r>
              <a:rPr lang="en-US" sz="2000" dirty="0"/>
              <a:t>, which is essential for models like MLP to converge effectively.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162E90-E4F2-A28A-4179-EC15A503E9EF}"/>
              </a:ext>
            </a:extLst>
          </p:cNvPr>
          <p:cNvSpPr txBox="1"/>
          <p:nvPr/>
        </p:nvSpPr>
        <p:spPr>
          <a:xfrm>
            <a:off x="561474" y="209904"/>
            <a:ext cx="10892589" cy="1255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ensure high-quality model training, the following cleaning steps were performed: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04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B3A00-925D-325A-F755-68F557630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Models &amp;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32E7C-7C4E-7C56-2A34-276CBCB8A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36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A773A611-E2DC-6A46-D431-09A7176575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2389" y="1062750"/>
            <a:ext cx="1158722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data was split into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80% training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20% testing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Baseline Model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Linear Regression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was used as a simple benchmark.</a:t>
            </a:r>
            <a:endParaRPr lang="en-US" altLang="en-US" sz="3200" dirty="0"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Advanced Models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Random Forest Regressor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XGBoost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Regressor</a:t>
            </a:r>
            <a:r>
              <a:rPr lang="en-US" altLang="en-US" sz="3200" dirty="0">
                <a:latin typeface="Google Sans Tex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MLP Regressor (Neural Network).</a:t>
            </a: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5206714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814ED-8F61-7CF7-C078-3C2C4266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Results &amp;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AB4FA-D21B-5569-57F0-366222AC2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197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68C4F0-B54B-7742-E347-4AC07C41CF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2516018"/>
              </p:ext>
            </p:extLst>
          </p:nvPr>
        </p:nvGraphicFramePr>
        <p:xfrm>
          <a:off x="465222" y="7577489"/>
          <a:ext cx="10515600" cy="3994485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8118900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0380169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416485417"/>
                    </a:ext>
                  </a:extLst>
                </a:gridCol>
              </a:tblGrid>
              <a:tr h="7017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Model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R2 Score (Test)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Status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815007"/>
                  </a:ext>
                </a:extLst>
              </a:tr>
              <a:tr h="7017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Random Forest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0.9150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overall performance.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720747"/>
                  </a:ext>
                </a:extLst>
              </a:tr>
              <a:tr h="7017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XGBoost (Tuned)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~0.914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Very high accuracy after tuning.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393017"/>
                  </a:ext>
                </a:extLst>
              </a:tr>
              <a:tr h="70173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Linear Regression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0.7876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Baseline performance.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324556"/>
                  </a:ext>
                </a:extLst>
              </a:tr>
              <a:tr h="118754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MLP Regressor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Varies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Performance depends on specific tuning iterations.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417535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5327AB2D-CC92-D1EF-F6A8-5F1E763F6A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5222" y="678159"/>
            <a:ext cx="11582400" cy="90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models were evaluated using the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R2 Score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(Coefficient of Determination)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Mean Squared Error (MSE)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 descr="A screen shot of a black screen&#10;&#10;AI-generated content may be incorrect.">
            <a:extLst>
              <a:ext uri="{FF2B5EF4-FFF2-40B4-BE49-F238E27FC236}">
                <a16:creationId xmlns:a16="http://schemas.microsoft.com/office/drawing/2014/main" id="{1ADD23B2-37F9-0EAE-AB93-89902ACFC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71" y="2273804"/>
            <a:ext cx="9533857" cy="307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743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C99D22-7054-5ECD-FFCD-58ADC234F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267" y="1333975"/>
            <a:ext cx="8173466" cy="533463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7FFFC6D-55F3-0B46-78AD-A577A23A6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Model </a:t>
            </a:r>
            <a:r>
              <a:rPr lang="en-US" dirty="0" err="1"/>
              <a:t>comparasion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181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387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Google Sans Text</vt:lpstr>
      <vt:lpstr>Office Theme</vt:lpstr>
      <vt:lpstr>Air Quality Prediction</vt:lpstr>
      <vt:lpstr>PowerPoint Presentation</vt:lpstr>
      <vt:lpstr>Data visualization</vt:lpstr>
      <vt:lpstr>PowerPoint Presentation</vt:lpstr>
      <vt:lpstr>PowerPoint Presentation</vt:lpstr>
      <vt:lpstr>Data Preprocessing</vt:lpstr>
      <vt:lpstr>PowerPoint Presentation</vt:lpstr>
      <vt:lpstr>Models &amp; Architecture</vt:lpstr>
      <vt:lpstr>PowerPoint Presentation</vt:lpstr>
      <vt:lpstr>Results &amp; Comparison</vt:lpstr>
      <vt:lpstr>The models were evaluated using the R2 Score (Coefficient of Determination) and Mean Squared Error (MSE).</vt:lpstr>
      <vt:lpstr>Model comparasion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sewar yaser abd-almajeed karajeh</dc:creator>
  <cp:lastModifiedBy>sewar yaser abd-almajeed karajeh</cp:lastModifiedBy>
  <cp:revision>2</cp:revision>
  <dcterms:created xsi:type="dcterms:W3CDTF">2025-12-21T07:37:48Z</dcterms:created>
  <dcterms:modified xsi:type="dcterms:W3CDTF">2025-12-21T08:19:01Z</dcterms:modified>
</cp:coreProperties>
</file>